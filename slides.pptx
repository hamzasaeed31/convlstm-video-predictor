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eorgia Pro Condensed Bold" charset="1" panose="02040806050405020203"/>
      <p:regular r:id="rId17"/>
    </p:embeddedFont>
    <p:embeddedFont>
      <p:font typeface="The Youngest" charset="1" panose="00000500000000000000"/>
      <p:regular r:id="rId18"/>
    </p:embeddedFont>
    <p:embeddedFont>
      <p:font typeface="Canva Sans" charset="1" panose="020B0503030501040103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2108" y="960343"/>
            <a:ext cx="7189800" cy="8366313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43571" y="2686922"/>
            <a:ext cx="15907360" cy="252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2"/>
              </a:lnSpc>
            </a:pPr>
            <a:r>
              <a:rPr lang="en-US" sz="9702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Predicting and Generating Video using Deep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70875" y="6899990"/>
            <a:ext cx="7088425" cy="242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6"/>
              </a:lnSpc>
            </a:pPr>
            <a:r>
              <a:rPr lang="en-US" sz="3461">
                <a:solidFill>
                  <a:srgbClr val="000000"/>
                </a:solidFill>
                <a:latin typeface="The Youngest"/>
                <a:ea typeface="The Youngest"/>
                <a:cs typeface="The Youngest"/>
                <a:sym typeface="The Youngest"/>
              </a:rPr>
              <a:t>Group Members:</a:t>
            </a:r>
          </a:p>
          <a:p>
            <a:pPr algn="l">
              <a:lnSpc>
                <a:spcPts val="4846"/>
              </a:lnSpc>
            </a:pPr>
            <a:r>
              <a:rPr lang="en-US" sz="3461">
                <a:solidFill>
                  <a:srgbClr val="000000"/>
                </a:solidFill>
                <a:latin typeface="The Youngest"/>
                <a:ea typeface="The Youngest"/>
                <a:cs typeface="The Youngest"/>
                <a:sym typeface="The Youngest"/>
              </a:rPr>
              <a:t>Hadeed Rauf - 21i-0859</a:t>
            </a:r>
          </a:p>
          <a:p>
            <a:pPr algn="l">
              <a:lnSpc>
                <a:spcPts val="4846"/>
              </a:lnSpc>
            </a:pPr>
            <a:r>
              <a:rPr lang="en-US" sz="3461">
                <a:solidFill>
                  <a:srgbClr val="000000"/>
                </a:solidFill>
                <a:latin typeface="The Youngest"/>
                <a:ea typeface="The Youngest"/>
                <a:cs typeface="The Youngest"/>
                <a:sym typeface="The Youngest"/>
              </a:rPr>
              <a:t>Hamza Saeed - 21i-0671</a:t>
            </a:r>
          </a:p>
          <a:p>
            <a:pPr algn="l">
              <a:lnSpc>
                <a:spcPts val="4846"/>
              </a:lnSpc>
            </a:pPr>
            <a:r>
              <a:rPr lang="en-US" sz="3461">
                <a:solidFill>
                  <a:srgbClr val="000000"/>
                </a:solidFill>
                <a:latin typeface="The Youngest"/>
                <a:ea typeface="The Youngest"/>
                <a:cs typeface="The Youngest"/>
                <a:sym typeface="The Youngest"/>
              </a:rPr>
              <a:t>Usman Zafar - 21i-0608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71622" y="9068443"/>
            <a:ext cx="6385579" cy="7430492"/>
            <a:chOff x="0" y="0"/>
            <a:chExt cx="6985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043571" y="6112590"/>
            <a:ext cx="433201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000000"/>
                </a:solidFill>
                <a:latin typeface="The Youngest"/>
                <a:ea typeface="The Youngest"/>
                <a:cs typeface="The Youngest"/>
                <a:sym typeface="The Youngest"/>
              </a:rPr>
              <a:t>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597816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894960" y="-847389"/>
            <a:ext cx="4234367" cy="4927264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93439" y="1209675"/>
            <a:ext cx="5456861" cy="12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6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01911" y="2804939"/>
            <a:ext cx="11348211" cy="6074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438" indent="-373719" lvl="1">
              <a:lnSpc>
                <a:spcPts val="4846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 a deep learning model to predict multiple consecutive frames</a:t>
            </a:r>
          </a:p>
          <a:p>
            <a:pPr algn="l" marL="747438" indent="-373719" lvl="1">
              <a:lnSpc>
                <a:spcPts val="4846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a video by combining the predicted frames into a continuous sequence.</a:t>
            </a:r>
          </a:p>
          <a:p>
            <a:pPr algn="l" marL="747438" indent="-373719" lvl="1">
              <a:lnSpc>
                <a:spcPts val="4846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visualize input frames, predicted frames, and the complete video with runtime inference.</a:t>
            </a:r>
          </a:p>
          <a:p>
            <a:pPr algn="l" marL="747438" indent="-373719" lvl="1">
              <a:lnSpc>
                <a:spcPts val="4846"/>
              </a:lnSpc>
              <a:buFont typeface="Arial"/>
              <a:buChar char="•"/>
            </a:pPr>
            <a:r>
              <a:rPr lang="en-US" sz="346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3  models effectiveness in generating realistic video sequences.</a:t>
            </a:r>
          </a:p>
          <a:p>
            <a:pPr algn="l">
              <a:lnSpc>
                <a:spcPts val="4846"/>
              </a:lnSpc>
            </a:pPr>
          </a:p>
          <a:p>
            <a:pPr algn="l">
              <a:lnSpc>
                <a:spcPts val="484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99877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01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493439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94997" y="717467"/>
            <a:ext cx="7781498" cy="12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6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02</a:t>
            </a:r>
          </a:p>
        </p:txBody>
      </p:sp>
      <p:sp>
        <p:nvSpPr>
          <p:cNvPr name="AutoShape 7" id="7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80125" y="2426319"/>
            <a:ext cx="13210992" cy="740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Preprocessing: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Resizing frames to 64x64 pixels for computational efficiency.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Development: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ConvLSTM, PredRNN, Transformer based model to predict frames.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Training: 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Training models for 50 epochs with batch size 8.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Evaluation:  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loss functions MSE for frame prediction accuracy and SSIM for visual coherence.</a:t>
            </a:r>
          </a:p>
          <a:p>
            <a:pPr algn="l" marL="820412" indent="-410206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Analysis: 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Comparing computational complexity and efficiency of these models</a:t>
            </a:r>
          </a:p>
          <a:p>
            <a:pPr algn="l">
              <a:lnSpc>
                <a:spcPts val="601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15493" y="1343676"/>
            <a:ext cx="10242540" cy="12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6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Data Preparation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03</a:t>
            </a:r>
          </a:p>
        </p:txBody>
      </p:sp>
      <p:sp>
        <p:nvSpPr>
          <p:cNvPr name="AutoShape 7" id="7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09022" y="2569845"/>
            <a:ext cx="11276177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Dataset: UCF101 - Human activity vi</a:t>
            </a: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deos.</a:t>
            </a:r>
          </a:p>
          <a:p>
            <a:pPr algn="just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  <a:p>
            <a:pPr algn="just" marL="1554477" indent="-518159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Resized frames to 64x64 pixels.</a:t>
            </a:r>
          </a:p>
          <a:p>
            <a:pPr algn="just" marL="1554477" indent="-518159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Normalized pixel values to the range [0, 1].</a:t>
            </a:r>
          </a:p>
          <a:p>
            <a:pPr algn="just" marL="1554477" indent="-518159" lvl="2">
              <a:lnSpc>
                <a:spcPts val="5039"/>
              </a:lnSpc>
              <a:buFont typeface="Arial"/>
              <a:buChar char="⚬"/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Split dataset: 80% training, 10% validation, 10% testing.</a:t>
            </a:r>
          </a:p>
          <a:p>
            <a:pPr algn="just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17083" y="732783"/>
            <a:ext cx="11842217" cy="12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6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Model Development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04</a:t>
            </a:r>
          </a:p>
        </p:txBody>
      </p:sp>
      <p:sp>
        <p:nvSpPr>
          <p:cNvPr name="AutoShape 7" id="7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222305" y="1796204"/>
            <a:ext cx="12231773" cy="784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a)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ConvLSTM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Captures spatiotemporal patterns efficiently.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Best suited for short-term predictions with simple motion patterns.</a:t>
            </a:r>
          </a:p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(b) PredRNN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Incorporates memory flow for handling long-term dependencies.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Delivers strong prediction quality for complex sequences.</a:t>
            </a:r>
          </a:p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(c) Transformer-based Model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attention mechanisms for global dependency modeling.</a:t>
            </a:r>
          </a:p>
          <a:p>
            <a:pPr algn="just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Excels in high spatial complexity but requires significant computational resources.</a:t>
            </a:r>
          </a:p>
          <a:p>
            <a:pPr algn="just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82474" y="1060309"/>
            <a:ext cx="10390202" cy="12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6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Training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05</a:t>
            </a:r>
          </a:p>
        </p:txBody>
      </p:sp>
      <p:sp>
        <p:nvSpPr>
          <p:cNvPr name="AutoShape 7" id="7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331950" y="2964661"/>
            <a:ext cx="11291250" cy="4788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0752" indent="-420376" lvl="1">
              <a:lnSpc>
                <a:spcPts val="5451"/>
              </a:lnSpc>
              <a:buFont typeface="Arial"/>
              <a:buChar char="•"/>
            </a:pPr>
            <a:r>
              <a:rPr lang="en-US" sz="3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Environment: NVIDI</a:t>
            </a:r>
            <a:r>
              <a:rPr lang="en-US" sz="3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Tesla V100 GPU.</a:t>
            </a:r>
          </a:p>
          <a:p>
            <a:pPr algn="just" marL="840752" indent="-420376" lvl="1">
              <a:lnSpc>
                <a:spcPts val="5451"/>
              </a:lnSpc>
              <a:buFont typeface="Arial"/>
              <a:buChar char="•"/>
            </a:pPr>
            <a:r>
              <a:rPr lang="en-US" sz="3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Common Configurations:</a:t>
            </a:r>
          </a:p>
          <a:p>
            <a:pPr algn="just" marL="1681504" indent="-560501" lvl="2">
              <a:lnSpc>
                <a:spcPts val="5451"/>
              </a:lnSpc>
              <a:buFont typeface="Arial"/>
              <a:buChar char="⚬"/>
            </a:pPr>
            <a:r>
              <a:rPr lang="en-US" sz="3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Optimizer: Adam (Transformer: AdamW).</a:t>
            </a:r>
          </a:p>
          <a:p>
            <a:pPr algn="just" marL="1681504" indent="-560501" lvl="2">
              <a:lnSpc>
                <a:spcPts val="5451"/>
              </a:lnSpc>
              <a:buFont typeface="Arial"/>
              <a:buChar char="⚬"/>
            </a:pPr>
            <a:r>
              <a:rPr lang="en-US" sz="3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stopping based on validation loss.</a:t>
            </a:r>
          </a:p>
          <a:p>
            <a:pPr algn="just" marL="1681504" indent="-560501" lvl="2">
              <a:lnSpc>
                <a:spcPts val="5451"/>
              </a:lnSpc>
              <a:buFont typeface="Arial"/>
              <a:buChar char="⚬"/>
            </a:pPr>
            <a:r>
              <a:rPr lang="en-US" sz="3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 tuning via grid search.</a:t>
            </a:r>
          </a:p>
          <a:p>
            <a:pPr algn="just" marL="840752" indent="-420376" lvl="1">
              <a:lnSpc>
                <a:spcPts val="5451"/>
              </a:lnSpc>
              <a:buFont typeface="Arial"/>
              <a:buChar char="•"/>
            </a:pPr>
            <a:r>
              <a:rPr lang="en-US" sz="38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Epochs: 50 (with early stopping).</a:t>
            </a:r>
          </a:p>
          <a:p>
            <a:pPr algn="just">
              <a:lnSpc>
                <a:spcPts val="545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077008" y="650407"/>
            <a:ext cx="12288184" cy="120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89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Evaluation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06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88248" y="2119630"/>
            <a:ext cx="11697030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Quantitative Metrics: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PSNR: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Measures frame reconstruction quality.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SSIM: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Evaluates structural similarity.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MSE: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Computes pixel-wise prediction error.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Inference Time: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Assesses computational efficiency.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Qualitative Metrics: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 coherence, smooth transitions, and realism.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218565" y="2162347"/>
            <a:ext cx="12436396" cy="2981153"/>
          </a:xfrm>
          <a:custGeom>
            <a:avLst/>
            <a:gdLst/>
            <a:ahLst/>
            <a:cxnLst/>
            <a:rect r="r" b="b" t="t" l="l"/>
            <a:pathLst>
              <a:path h="2981153" w="12436396">
                <a:moveTo>
                  <a:pt x="0" y="0"/>
                </a:moveTo>
                <a:lnTo>
                  <a:pt x="12436396" y="0"/>
                </a:lnTo>
                <a:lnTo>
                  <a:pt x="12436396" y="2981153"/>
                </a:lnTo>
                <a:lnTo>
                  <a:pt x="0" y="2981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18565" y="5372100"/>
            <a:ext cx="2906395" cy="2821106"/>
          </a:xfrm>
          <a:custGeom>
            <a:avLst/>
            <a:gdLst/>
            <a:ahLst/>
            <a:cxnLst/>
            <a:rect r="r" b="b" t="t" l="l"/>
            <a:pathLst>
              <a:path h="2821106" w="2906395">
                <a:moveTo>
                  <a:pt x="0" y="0"/>
                </a:moveTo>
                <a:lnTo>
                  <a:pt x="2906395" y="0"/>
                </a:lnTo>
                <a:lnTo>
                  <a:pt x="2906395" y="2821106"/>
                </a:lnTo>
                <a:lnTo>
                  <a:pt x="0" y="2821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61271" y="7319415"/>
            <a:ext cx="5043969" cy="1747582"/>
          </a:xfrm>
          <a:custGeom>
            <a:avLst/>
            <a:gdLst/>
            <a:ahLst/>
            <a:cxnLst/>
            <a:rect r="r" b="b" t="t" l="l"/>
            <a:pathLst>
              <a:path h="1747582" w="5043969">
                <a:moveTo>
                  <a:pt x="0" y="0"/>
                </a:moveTo>
                <a:lnTo>
                  <a:pt x="5043969" y="0"/>
                </a:lnTo>
                <a:lnTo>
                  <a:pt x="5043969" y="1747582"/>
                </a:lnTo>
                <a:lnTo>
                  <a:pt x="0" y="1747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11550" y="5522052"/>
            <a:ext cx="6743412" cy="1219077"/>
          </a:xfrm>
          <a:custGeom>
            <a:avLst/>
            <a:gdLst/>
            <a:ahLst/>
            <a:cxnLst/>
            <a:rect r="r" b="b" t="t" l="l"/>
            <a:pathLst>
              <a:path h="1219077" w="6743412">
                <a:moveTo>
                  <a:pt x="0" y="0"/>
                </a:moveTo>
                <a:lnTo>
                  <a:pt x="6743411" y="0"/>
                </a:lnTo>
                <a:lnTo>
                  <a:pt x="6743411" y="1219078"/>
                </a:lnTo>
                <a:lnTo>
                  <a:pt x="0" y="1219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72" r="0" b="-257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36003" y="641931"/>
            <a:ext cx="11401521" cy="12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6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Result Comparsion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18565" y="8364656"/>
            <a:ext cx="177415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ConvLSTM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4667" y="7728386"/>
            <a:ext cx="153209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PredRNN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73851" y="5464902"/>
            <a:ext cx="246163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Transformer based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028312" y="1060309"/>
            <a:ext cx="4763593" cy="129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699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08</a:t>
            </a:r>
          </a:p>
        </p:txBody>
      </p:sp>
      <p:sp>
        <p:nvSpPr>
          <p:cNvPr name="AutoShape 7" id="7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42362" y="2555809"/>
            <a:ext cx="1113549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Quantit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ative Results: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ConvLSTM: Efficient but struggles with complexity.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PredRNN: Balanced quality and performance.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Transformer: Best visual output but resource-heavy.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Overfitting, computational cost, handling complex dynamics.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69438" y="680347"/>
            <a:ext cx="11989862" cy="935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4"/>
              </a:lnSpc>
            </a:pPr>
            <a:r>
              <a:rPr lang="en-US" sz="6974" b="true">
                <a:solidFill>
                  <a:srgbClr val="004AAD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Conclusion and 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01435" y="4327525"/>
            <a:ext cx="2157197" cy="187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09</a:t>
            </a:r>
          </a:p>
        </p:txBody>
      </p:sp>
      <p:sp>
        <p:nvSpPr>
          <p:cNvPr name="AutoShape 7" id="7"/>
          <p:cNvSpPr/>
          <p:nvPr/>
        </p:nvSpPr>
        <p:spPr>
          <a:xfrm>
            <a:off x="6394997" y="9253538"/>
            <a:ext cx="6615702" cy="0"/>
          </a:xfrm>
          <a:prstGeom prst="line">
            <a:avLst/>
          </a:prstGeom>
          <a:ln cap="flat" w="952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42362" y="2555809"/>
            <a:ext cx="11135493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PredRNN is ideal for balanced use cases.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Transformer excels in quality if resources permit.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Directions: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hybrid models combining the strengths of all three.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self-supervised learning and advanced attention mechanisms.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96258" y="-1706400"/>
            <a:ext cx="11773266" cy="13699801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1906" y="2887743"/>
            <a:ext cx="8620446" cy="5092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82"/>
              </a:lnSpc>
            </a:pPr>
            <a:r>
              <a:rPr lang="en-US" sz="21189" b="true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796518" y="-847389"/>
            <a:ext cx="4234367" cy="4927264"/>
            <a:chOff x="0" y="0"/>
            <a:chExt cx="6985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DAGYR3HcgnI</dc:identifier>
  <dcterms:modified xsi:type="dcterms:W3CDTF">2011-08-01T06:04:30Z</dcterms:modified>
  <cp:revision>1</cp:revision>
  <dc:title>slides</dc:title>
</cp:coreProperties>
</file>